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122A4C"/>
                </a:solidFill>
              </a:rPr>
              <a:t>Operating cost by zone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cost ($M)</c:v>
                </c:pt>
              </c:strCache>
            </c:strRef>
          </c:tx>
          <c:dPt>
            <c:idx val="0"/>
            <c:spPr>
              <a:solidFill>
                <a:srgbClr val="2F5DA9"/>
              </a:solidFill>
            </c:spPr>
          </c:dPt>
          <c:dPt>
            <c:idx val="1"/>
            <c:spPr>
              <a:solidFill>
                <a:srgbClr val="E16B4A"/>
              </a:solidFill>
            </c:spPr>
          </c:dPt>
          <c:dPt>
            <c:idx val="2"/>
            <c:spPr>
              <a:solidFill>
                <a:srgbClr val="368F84"/>
              </a:solidFill>
            </c:spPr>
          </c:dPt>
          <c:dPt>
            <c:idx val="3"/>
            <c:spPr>
              <a:solidFill>
                <a:srgbClr val="9160C0"/>
              </a:solidFill>
            </c:spPr>
          </c:dPt>
          <c:cat>
            <c:strRef>
              <c:f>Sheet1!$A$2:$A$5</c:f>
              <c:strCache>
                <c:ptCount val="4"/>
                <c:pt idx="0">
                  <c:v>50Hertz</c:v>
                </c:pt>
                <c:pt idx="1">
                  <c:v>Amprion</c:v>
                </c:pt>
                <c:pt idx="2">
                  <c:v>TenneT</c:v>
                </c:pt>
                <c:pt idx="3">
                  <c:v>TransnetBW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62.077446144627196</c:v>
                </c:pt>
                <c:pt idx="1">
                  <c:v>94.1477765818606</c:v>
                </c:pt>
                <c:pt idx="2">
                  <c:v>35.21613708748424</c:v>
                </c:pt>
                <c:pt idx="3">
                  <c:v>34.92722322511029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Germany PCM Case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32688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EE7F2"/>
                </a:solidFill>
              </a:rPr>
              <a:t>From raw public data to consistent nodal and zonal HOPE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83080"/>
            <a:ext cx="4754880" cy="1051560"/>
          </a:xfrm>
          <a:prstGeom prst="roundRect">
            <a:avLst/>
          </a:prstGeom>
          <a:solidFill>
            <a:srgbClr val="ECF2FA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F5DA9"/>
                </a:solidFill>
              </a:rPr>
              <a:t>Core design rule</a:t>
            </a:r>
          </a:p>
          <a:p>
            <a:r>
              <a:rPr sz="2000" b="1">
                <a:solidFill>
                  <a:srgbClr val="122A4C"/>
                </a:solidFill>
              </a:rPr>
              <a:t>Build one nodal master case first, then derive the zonal case mechanically.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128016" cy="914400"/>
          </a:xfrm>
          <a:prstGeom prst="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374136"/>
            <a:ext cx="1929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Nodal Buses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630168"/>
            <a:ext cx="19293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783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324612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3246120"/>
            <a:ext cx="128016" cy="914400"/>
          </a:xfrm>
          <a:prstGeom prst="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3374136"/>
            <a:ext cx="1929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Nodal 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3630168"/>
            <a:ext cx="19293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1174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324612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0" y="3246120"/>
            <a:ext cx="128016" cy="914400"/>
          </a:xfrm>
          <a:prstGeom prst="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7296" y="3374136"/>
            <a:ext cx="1929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Generators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6" y="3630168"/>
            <a:ext cx="19293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4267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24612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3246120"/>
            <a:ext cx="128016" cy="914400"/>
          </a:xfrm>
          <a:prstGeom prst="rect">
            <a:avLst/>
          </a:prstGeom>
          <a:solidFill>
            <a:srgbClr val="DBA520"/>
          </a:solidFill>
          <a:ln>
            <a:solidFill>
              <a:srgbClr val="DB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3374136"/>
            <a:ext cx="1929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Demo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3630168"/>
            <a:ext cx="19293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$226.37M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09160"/>
            <a:ext cx="104241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22A4C"/>
                </a:solidFill>
              </a:rPr>
              <a:t>Network backbone: OSM Europe transmission dataset + PyPSA-Eur reference workflow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22A4C"/>
                </a:solidFill>
              </a:rPr>
              <a:t>Fleet: powerplantmatching with Germany-specific validation layers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22A4C"/>
                </a:solidFill>
              </a:rPr>
              <a:t>Chronology: SMARD national load + generation and four TSO load helper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How the Germany case was assembled and why the design is comparison-friendly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0876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508760"/>
            <a:ext cx="3246120" cy="146304"/>
          </a:xfrm>
          <a:prstGeom prst="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DA9"/>
                </a:solidFill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743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22A4C"/>
                </a:solidFill>
              </a:rPr>
              <a:t>Create one canonical Germany PCM dataset that supports both nodal and zonal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9704" y="150876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9704" y="1508760"/>
            <a:ext cx="3246120" cy="146304"/>
          </a:xfrm>
          <a:prstGeom prst="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7830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68F84"/>
                </a:solidFill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148840"/>
            <a:ext cx="2743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22A4C"/>
                </a:solidFill>
              </a:rPr>
              <a:t>Freeze every major mapping once: generator -&gt; bus -&gt; zone -&gt; zonal derivative.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66175" y="1508760"/>
            <a:ext cx="3246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66175" y="1508760"/>
            <a:ext cx="3246120" cy="146304"/>
          </a:xfrm>
          <a:prstGeom prst="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17830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16B4A"/>
                </a:solidFill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148840"/>
            <a:ext cx="2743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22A4C"/>
                </a:solidFill>
              </a:rPr>
              <a:t>A solved 2-day nodal demo case plus a consistent 4-zone zonal comparison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Source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Each layer was chosen to keep the zonal case derived from, not detached from, the nodal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8408" y="1709928"/>
            <a:ext cx="1188720" cy="347472"/>
          </a:xfrm>
          <a:prstGeom prst="round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5" y="2167128"/>
            <a:ext cx="4526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A4C"/>
                </a:solidFill>
              </a:rPr>
              <a:t>OSM Europe transmission dataset</a:t>
            </a:r>
          </a:p>
          <a:p>
            <a:r>
              <a:rPr sz="1800" b="1">
                <a:solidFill>
                  <a:srgbClr val="122A4C"/>
                </a:solidFill>
              </a:rPr>
              <a:t>PyPSA-Eur workflow reference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19088" y="1709928"/>
            <a:ext cx="1188720" cy="347472"/>
          </a:xfrm>
          <a:prstGeom prst="round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Fleet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2167128"/>
            <a:ext cx="4526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A4C"/>
                </a:solidFill>
              </a:rPr>
              <a:t>powerplantmatching</a:t>
            </a:r>
          </a:p>
          <a:p>
            <a:r>
              <a:rPr sz="1800" b="1">
                <a:solidFill>
                  <a:srgbClr val="122A4C"/>
                </a:solidFill>
              </a:rPr>
              <a:t>BNetzA validation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5760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3858768"/>
            <a:ext cx="1188720" cy="347472"/>
          </a:xfrm>
          <a:prstGeom prst="round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Chronology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4315968"/>
            <a:ext cx="4526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A4C"/>
                </a:solidFill>
              </a:rPr>
              <a:t>SMARD Germany load + generation</a:t>
            </a:r>
          </a:p>
          <a:p>
            <a:r>
              <a:rPr sz="1800" b="1">
                <a:solidFill>
                  <a:srgbClr val="122A4C"/>
                </a:solidFill>
              </a:rPr>
              <a:t>SMARD TSO load helper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19088" y="3858768"/>
            <a:ext cx="1188720" cy="347472"/>
          </a:xfrm>
          <a:prstGeom prst="roundRect">
            <a:avLst/>
          </a:prstGeom>
          <a:solidFill>
            <a:srgbClr val="9160C0"/>
          </a:solidFill>
          <a:ln>
            <a:solidFill>
              <a:srgbClr val="916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Map 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4315968"/>
            <a:ext cx="4526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A4C"/>
                </a:solidFill>
              </a:rPr>
              <a:t>Germany state boundary GeoJSON</a:t>
            </a:r>
          </a:p>
          <a:p>
            <a:r>
              <a:rPr sz="1800" b="1">
                <a:solidFill>
                  <a:srgbClr val="122A4C"/>
                </a:solidFill>
              </a:rPr>
              <a:t>reconstructed 4-TSO overlay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Integration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The zonal case is produced by aggregation from the nodal master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45920" cy="868680"/>
          </a:xfrm>
          <a:prstGeom prst="round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Raw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1645920" cy="868680"/>
          </a:xfrm>
          <a:prstGeom prst="round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Cleaned Staging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28800"/>
            <a:ext cx="1645920" cy="868680"/>
          </a:xfrm>
          <a:prstGeom prst="round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Frozen Maps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1645920" cy="868680"/>
          </a:xfrm>
          <a:prstGeom prst="round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Nodal Master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828800"/>
            <a:ext cx="1645920" cy="868680"/>
          </a:xfrm>
          <a:prstGeom prst="round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Zonal Derivative</a:t>
            </a:r>
          </a:p>
        </p:txBody>
      </p:sp>
      <p:sp>
        <p:nvSpPr>
          <p:cNvPr id="9" name="Chevron 8"/>
          <p:cNvSpPr/>
          <p:nvPr/>
        </p:nvSpPr>
        <p:spPr>
          <a:xfrm>
            <a:off x="2423160" y="2066543"/>
            <a:ext cx="320040" cy="347472"/>
          </a:xfrm>
          <a:prstGeom prst="chevron">
            <a:avLst/>
          </a:prstGeom>
          <a:solidFill>
            <a:srgbClr val="5B697D"/>
          </a:solidFill>
          <a:ln>
            <a:solidFill>
              <a:srgbClr val="5B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4434840" y="2066543"/>
            <a:ext cx="320040" cy="347472"/>
          </a:xfrm>
          <a:prstGeom prst="chevron">
            <a:avLst/>
          </a:prstGeom>
          <a:solidFill>
            <a:srgbClr val="5B697D"/>
          </a:solidFill>
          <a:ln>
            <a:solidFill>
              <a:srgbClr val="5B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6446520" y="2066543"/>
            <a:ext cx="320040" cy="347472"/>
          </a:xfrm>
          <a:prstGeom prst="chevron">
            <a:avLst/>
          </a:prstGeom>
          <a:solidFill>
            <a:srgbClr val="5B697D"/>
          </a:solidFill>
          <a:ln>
            <a:solidFill>
              <a:srgbClr val="5B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8458200" y="2066543"/>
            <a:ext cx="320040" cy="347472"/>
          </a:xfrm>
          <a:prstGeom prst="chevron">
            <a:avLst/>
          </a:prstGeom>
          <a:solidFill>
            <a:srgbClr val="5B697D"/>
          </a:solidFill>
          <a:ln>
            <a:solidFill>
              <a:srgbClr val="5B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Network cleaner produces stable buses, lines, transformers, and links.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Fleet cleaner assigns each generator to one nodal bus and inherits one zone tag.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Chronology builder freezes one 2025 hourly basis and optional zonal load shares.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Zonal seams and capacities are derived from the nodal cross-zone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Build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Six steps turned raw public data into the Germany PCM comparison set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417320"/>
            <a:ext cx="502920" cy="50292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9903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Network backbone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636776"/>
            <a:ext cx="9144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Normalize OSM Europe inputs and keep a connected 783-bus Germany network.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267712"/>
            <a:ext cx="502920" cy="50292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49424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Bus-zone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87168"/>
            <a:ext cx="9144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Freeze one Bus_id -&gt; TSO zone table for 50Hertz, Amprion, TenneT, and TransnetBW.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118104"/>
            <a:ext cx="502920" cy="50292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99816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Generator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337560"/>
            <a:ext cx="9144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Clean powerplantmatching and assign each plant to a nodal bus once.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968496"/>
            <a:ext cx="502920" cy="50292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5020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Chronology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187952"/>
            <a:ext cx="9144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Build one 2025 hourly chronology with 8760 rows and reuse it everywhere.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818888"/>
            <a:ext cx="502920" cy="50292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80060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Case assembly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5038344"/>
            <a:ext cx="9144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Build the canonical nodal case first and aggregate the zonal case from it.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669279"/>
            <a:ext cx="502920" cy="502920"/>
          </a:xfrm>
          <a:prstGeom prst="ellipse">
            <a:avLst/>
          </a:prstGeom>
          <a:solidFill>
            <a:srgbClr val="122A4C"/>
          </a:solidFill>
          <a:ln>
            <a:solidFill>
              <a:srgbClr val="122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509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Dashboard geometry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888736"/>
            <a:ext cx="9144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22A4C"/>
                </a:solidFill>
              </a:rPr>
              <a:t>Reconstruct a file-backed Germany TSO overlay from state boundaries and frozen bus geography.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Case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Current master and derivative cases in the repo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50876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5DA9"/>
                </a:solidFill>
              </a:rPr>
              <a:t>Nodal Master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755648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16B4A"/>
                </a:solidFill>
              </a:rPr>
              <a:t>Zonal Derivative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783 buses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1174 lines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4267 generator entries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8760-hour canonical chronology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4 zones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5 interzonal interfaces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70 zonal generator entries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22A4C"/>
                </a:solidFill>
              </a:rPr>
              <a:t>Derived from nodal geography and seams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480560"/>
            <a:ext cx="10012680" cy="566928"/>
          </a:xfrm>
          <a:prstGeom prst="roundRect">
            <a:avLst/>
          </a:prstGeom>
          <a:solidFill>
            <a:srgbClr val="ECF2FA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122A4C"/>
                </a:solidFill>
              </a:rPr>
              <a:t>Design choice: the zonal case is not independently calibrated; it is aggregated from the nodal master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Assumptions And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Important choices to explain when comparing Germany nodal and zonal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303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508760"/>
            <a:ext cx="52578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3736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68F84"/>
                </a:solidFill>
              </a:rPr>
              <a:t>Frozen Modeling Choices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17373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16B4A"/>
                </a:solidFill>
              </a:rPr>
              <a:t>Current Caveats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Use one nodal master case as the canonical truth source.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Use four TSO research zones instead of the real DE-LU bidding zone.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Keep representative-day modes off for PCM debug validation windows.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Preserve chronology consistency before adding more model complexity.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The Germany TSO dashboard overlay is reconstructed, not official GIS.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The 2-day nodal demo case is solve-proven; longer nodal horizons still need staged validation.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Generator validation against MaStR and Kraftwerksliste can still be deepened.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22A4C"/>
                </a:solidFill>
              </a:rPr>
              <a:t>Historical benchmarking should keep expanding as the case matures.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Debugging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The nodal case became usable after fixing topology and electrical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2461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246120" cy="146304"/>
          </a:xfrm>
          <a:prstGeom prst="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84831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16B4A"/>
                </a:solidFill>
              </a:rPr>
              <a:t>Initial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697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22A4C"/>
                </a:solidFill>
              </a:rPr>
              <a:t>Disconnected components, singular-network behavior, and severe angle-limit pathologies.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2461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246120" cy="146304"/>
          </a:xfrm>
          <a:prstGeom prst="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084831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68F84"/>
                </a:solidFill>
              </a:rPr>
              <a:t>Core fixes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468880"/>
            <a:ext cx="2697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22A4C"/>
                </a:solidFill>
              </a:rPr>
              <a:t>Transformer connectivity, largest connected component, and HOPE-scale reactance normalization.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2461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1828800"/>
            <a:ext cx="3246120" cy="146304"/>
          </a:xfrm>
          <a:prstGeom prst="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084831"/>
            <a:ext cx="2560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5DA9"/>
                </a:solidFill>
              </a:rPr>
              <a:t>Usable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468880"/>
            <a:ext cx="2697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22A4C"/>
                </a:solidFill>
              </a:rPr>
              <a:t>A 1-day and then 2-day full-nodal Germany debug run solved cleanly with zero load shedding.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Solved Demo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2-day January nodal case used for the current Germany dashboard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28016" cy="914400"/>
          </a:xfrm>
          <a:prstGeom prst="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1545336"/>
            <a:ext cx="2020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Solve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1801368"/>
            <a:ext cx="20208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48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128016" cy="914400"/>
          </a:xfrm>
          <a:prstGeom prst="rect">
            <a:avLst/>
          </a:prstGeom>
          <a:solidFill>
            <a:srgbClr val="DBA520"/>
          </a:solidFill>
          <a:ln>
            <a:solidFill>
              <a:srgbClr val="DB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5" y="1545336"/>
            <a:ext cx="2020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Total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5" y="1801368"/>
            <a:ext cx="20208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$226.37M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4173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417320"/>
            <a:ext cx="128016" cy="914400"/>
          </a:xfrm>
          <a:prstGeom prst="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7336" y="1545336"/>
            <a:ext cx="2020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Load Shedding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1801368"/>
            <a:ext cx="20208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0.0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41732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200" y="1417320"/>
            <a:ext cx="128016" cy="914400"/>
          </a:xfrm>
          <a:prstGeom prst="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77656" y="1545336"/>
            <a:ext cx="2020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B697D"/>
                </a:solidFill>
              </a:rPr>
              <a:t>Dashboard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7656" y="1801368"/>
            <a:ext cx="202082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A4C"/>
                </a:solidFill>
              </a:rPr>
              <a:t>Default case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868680" y="2743200"/>
          <a:ext cx="6400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635240" y="2743200"/>
            <a:ext cx="3383280" cy="2743200"/>
          </a:xfrm>
          <a:prstGeom prst="roundRect">
            <a:avLst/>
          </a:prstGeom>
          <a:solidFill>
            <a:srgbClr val="ECF2FA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F5DA9"/>
                </a:solidFill>
              </a:rPr>
              <a:t>Why this matters</a:t>
            </a:r>
          </a:p>
          <a:p>
            <a:r>
              <a:rPr sz="1800" b="0">
                <a:solidFill>
                  <a:srgbClr val="122A4C"/>
                </a:solidFill>
              </a:rPr>
              <a:t>The solved 2-day nodal case is stable enough to demo the Germany dashboard while the longer nodal horizon is still being staged.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What to improve next in the Germany case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164592" cy="1645920"/>
          </a:xfrm>
          <a:prstGeom prst="rect">
            <a:avLst/>
          </a:prstGeom>
          <a:solidFill>
            <a:srgbClr val="2F5DA9"/>
          </a:solidFill>
          <a:ln>
            <a:solidFill>
              <a:srgbClr val="2F5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5DA9"/>
                </a:solidFill>
              </a:rPr>
              <a:t>Data 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84831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A4C"/>
                </a:solidFill>
              </a:rPr>
              <a:t>Deepen plant validation and benchmark chronology totals against SMARD.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164592" cy="1645920"/>
          </a:xfrm>
          <a:prstGeom prst="rect">
            <a:avLst/>
          </a:prstGeom>
          <a:solidFill>
            <a:srgbClr val="E16B4A"/>
          </a:solidFill>
          <a:ln>
            <a:solidFill>
              <a:srgbClr val="E1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55648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16B4A"/>
                </a:solidFill>
              </a:rPr>
              <a:t>Nodal Scale-Up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84831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A4C"/>
                </a:solidFill>
              </a:rPr>
              <a:t>Extend from short-window nodal success toward longer production horizons.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703320"/>
            <a:ext cx="164592" cy="1645920"/>
          </a:xfrm>
          <a:prstGeom prst="rect">
            <a:avLst/>
          </a:prstGeom>
          <a:solidFill>
            <a:srgbClr val="368F84"/>
          </a:solidFill>
          <a:ln>
            <a:solidFill>
              <a:srgbClr val="36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04487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68F84"/>
                </a:solidFill>
              </a:rPr>
              <a:t>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33672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A4C"/>
                </a:solidFill>
              </a:rPr>
              <a:t>Swap the reconstructed TSO overlay for official GIS if a public layer appears.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0332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03320"/>
            <a:ext cx="164592" cy="1645920"/>
          </a:xfrm>
          <a:prstGeom prst="rect">
            <a:avLst/>
          </a:prstGeom>
          <a:solidFill>
            <a:srgbClr val="9160C0"/>
          </a:solidFill>
          <a:ln>
            <a:solidFill>
              <a:srgbClr val="916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04487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9160C0"/>
                </a:solidFill>
              </a:rPr>
              <a:t>Storytelling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33672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22A4C"/>
                </a:solidFill>
              </a:rPr>
              <a:t>Compare nodal and zonal outputs directly in the dashboard and in papers.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2A4C"/>
                </a:solidFill>
              </a:rPr>
              <a:t>Key Files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97D"/>
                </a:solidFill>
              </a:rPr>
              <a:t>Useful paths for updating the Germany build and the dashboard 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719072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DA9"/>
                </a:solidFill>
              </a:rPr>
              <a:t>Build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700784"/>
            <a:ext cx="8138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22A4C"/>
                </a:solidFill>
              </a:rPr>
              <a:t>E:/MIT Dropbox/Shen Wang/MIT/RA/HOPE_project/ModelCases/tools/germany_pcm_case_related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87168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51760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DA9"/>
                </a:solidFill>
              </a:rPr>
              <a:t>Dashboard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633472"/>
            <a:ext cx="8138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22A4C"/>
                </a:solidFill>
              </a:rPr>
              <a:t>E:/MIT Dropbox/Shen Wang/MIT/RA/HOPE_project/tools/hope_dashboard/data/germany_tso_zones.geojson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19856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58444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DA9"/>
                </a:solidFill>
              </a:rPr>
              <a:t>Nodal master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566160"/>
            <a:ext cx="8138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22A4C"/>
                </a:solidFill>
              </a:rPr>
              <a:t>E:/MIT Dropbox/Shen Wang/MIT/RA/HOPE_project/ModelCases/GERMANY_PCM_nodal_case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52544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517136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5DA9"/>
                </a:solidFill>
              </a:rPr>
              <a:t>Zonal derivative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498848"/>
            <a:ext cx="8138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22A4C"/>
                </a:solidFill>
              </a:rPr>
              <a:t>E:/MIT Dropbox/Shen Wang/MIT/RA/HOPE_project/ModelCases/GERMANY_PCM_zonal4_case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